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61" r:id="rId7"/>
    <p:sldId id="262" r:id="rId8"/>
    <p:sldId id="258" r:id="rId9"/>
    <p:sldId id="259" r:id="rId10"/>
    <p:sldId id="260"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itchFamily="18" charset="0"/>
                <a:cs typeface="Times New Roman" pitchFamily="18" charset="0"/>
              </a:rPr>
              <a:t>SDG’s and WK’s</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46607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Sustainable Development Goals (SDG)</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976" y="1676400"/>
            <a:ext cx="9009824" cy="3733800"/>
          </a:xfrm>
        </p:spPr>
      </p:pic>
    </p:spTree>
    <p:extLst>
      <p:ext uri="{BB962C8B-B14F-4D97-AF65-F5344CB8AC3E}">
        <p14:creationId xmlns:p14="http://schemas.microsoft.com/office/powerpoint/2010/main" val="177972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lstStyle/>
          <a:p>
            <a:r>
              <a:rPr lang="en-US" dirty="0" smtClean="0"/>
              <a:t>SDG’s</a:t>
            </a:r>
            <a:endParaRPr lang="en-US" dirty="0"/>
          </a:p>
        </p:txBody>
      </p:sp>
      <p:sp>
        <p:nvSpPr>
          <p:cNvPr id="3" name="Content Placeholder 2"/>
          <p:cNvSpPr>
            <a:spLocks noGrp="1"/>
          </p:cNvSpPr>
          <p:nvPr>
            <p:ph idx="1"/>
          </p:nvPr>
        </p:nvSpPr>
        <p:spPr>
          <a:xfrm>
            <a:off x="228600" y="914400"/>
            <a:ext cx="8763000" cy="4525963"/>
          </a:xfrm>
        </p:spPr>
        <p:txBody>
          <a:bodyPr>
            <a:noAutofit/>
          </a:bodyPr>
          <a:lstStyle/>
          <a:p>
            <a:pPr marL="514350" indent="-514350" algn="just">
              <a:lnSpc>
                <a:spcPct val="170000"/>
              </a:lnSpc>
              <a:buAutoNum type="arabicPeriod"/>
            </a:pPr>
            <a:r>
              <a:rPr lang="en-US" sz="1800" b="1" dirty="0" smtClean="0">
                <a:latin typeface="Times New Roman" pitchFamily="18" charset="0"/>
                <a:cs typeface="Times New Roman" pitchFamily="18" charset="0"/>
              </a:rPr>
              <a:t>No poverty:- </a:t>
            </a:r>
            <a:r>
              <a:rPr lang="en-US" sz="1800" dirty="0" smtClean="0">
                <a:latin typeface="Times New Roman" pitchFamily="18" charset="0"/>
                <a:cs typeface="Times New Roman" pitchFamily="18" charset="0"/>
              </a:rPr>
              <a:t>End </a:t>
            </a:r>
            <a:r>
              <a:rPr lang="en-US" sz="1800" dirty="0">
                <a:latin typeface="Times New Roman" pitchFamily="18" charset="0"/>
                <a:cs typeface="Times New Roman" pitchFamily="18" charset="0"/>
              </a:rPr>
              <a:t>poverty in all its forms </a:t>
            </a:r>
            <a:r>
              <a:rPr lang="en-US" sz="1800" dirty="0" smtClean="0">
                <a:latin typeface="Times New Roman" pitchFamily="18" charset="0"/>
                <a:cs typeface="Times New Roman" pitchFamily="18" charset="0"/>
              </a:rPr>
              <a:t>everywhere</a:t>
            </a:r>
          </a:p>
          <a:p>
            <a:pPr marL="514350" indent="-514350" algn="just">
              <a:lnSpc>
                <a:spcPct val="170000"/>
              </a:lnSpc>
              <a:buFont typeface="Arial" pitchFamily="34" charset="0"/>
              <a:buAutoNum type="arabicPeriod"/>
            </a:pPr>
            <a:r>
              <a:rPr lang="en-US" sz="1800" b="1" dirty="0" smtClean="0">
                <a:latin typeface="Times New Roman" pitchFamily="18" charset="0"/>
                <a:cs typeface="Times New Roman" pitchFamily="18" charset="0"/>
              </a:rPr>
              <a:t>Zero hunger:- </a:t>
            </a:r>
            <a:r>
              <a:rPr lang="en-US" sz="1800" dirty="0">
                <a:latin typeface="Times New Roman" pitchFamily="18" charset="0"/>
                <a:cs typeface="Times New Roman" pitchFamily="18" charset="0"/>
              </a:rPr>
              <a:t>End hunger, achieve food security and improved nutrition and promote sustainable agriculture</a:t>
            </a:r>
          </a:p>
          <a:p>
            <a:pPr marL="514350" indent="-514350" algn="just">
              <a:lnSpc>
                <a:spcPct val="170000"/>
              </a:lnSpc>
              <a:buFont typeface="Arial" pitchFamily="34" charset="0"/>
              <a:buAutoNum type="arabicPeriod"/>
            </a:pPr>
            <a:r>
              <a:rPr lang="en-US" sz="1800" b="1" dirty="0" smtClean="0">
                <a:latin typeface="Times New Roman" pitchFamily="18" charset="0"/>
                <a:cs typeface="Times New Roman" pitchFamily="18" charset="0"/>
              </a:rPr>
              <a:t>Good health and well-being:- </a:t>
            </a:r>
            <a:r>
              <a:rPr lang="en-US" sz="1800" dirty="0">
                <a:latin typeface="Times New Roman" pitchFamily="18" charset="0"/>
                <a:cs typeface="Times New Roman" pitchFamily="18" charset="0"/>
              </a:rPr>
              <a:t>Ensure healthy lives and promote well-being for all at all ages</a:t>
            </a:r>
          </a:p>
          <a:p>
            <a:pPr marL="514350" indent="-514350" algn="just">
              <a:lnSpc>
                <a:spcPct val="170000"/>
              </a:lnSpc>
              <a:buFont typeface="Arial" pitchFamily="34" charset="0"/>
              <a:buAutoNum type="arabicPeriod"/>
            </a:pPr>
            <a:r>
              <a:rPr lang="en-US" sz="1800" b="1" dirty="0" smtClean="0">
                <a:latin typeface="Times New Roman" pitchFamily="18" charset="0"/>
                <a:cs typeface="Times New Roman" pitchFamily="18" charset="0"/>
              </a:rPr>
              <a:t>Quality Education:- </a:t>
            </a:r>
            <a:r>
              <a:rPr lang="en-US" sz="1800" dirty="0">
                <a:latin typeface="Times New Roman" pitchFamily="18" charset="0"/>
                <a:cs typeface="Times New Roman" pitchFamily="18" charset="0"/>
              </a:rPr>
              <a:t>Ensure inclusive and equitable quality education and promote lifelong learning opportunities for all</a:t>
            </a:r>
          </a:p>
          <a:p>
            <a:pPr marL="514350" indent="-514350" algn="just">
              <a:lnSpc>
                <a:spcPct val="170000"/>
              </a:lnSpc>
              <a:buFont typeface="Arial" pitchFamily="34" charset="0"/>
              <a:buAutoNum type="arabicPeriod"/>
            </a:pPr>
            <a:r>
              <a:rPr lang="en-US" sz="1800" b="1" dirty="0" smtClean="0">
                <a:latin typeface="Times New Roman" pitchFamily="18" charset="0"/>
                <a:cs typeface="Times New Roman" pitchFamily="18" charset="0"/>
              </a:rPr>
              <a:t>Gender equality:- </a:t>
            </a:r>
            <a:r>
              <a:rPr lang="en-US" sz="1800" dirty="0">
                <a:latin typeface="Times New Roman" pitchFamily="18" charset="0"/>
                <a:cs typeface="Times New Roman" pitchFamily="18" charset="0"/>
              </a:rPr>
              <a:t>Achieve gender equality and empower all women and girls</a:t>
            </a:r>
          </a:p>
          <a:p>
            <a:pPr marL="514350" indent="-514350" algn="just">
              <a:lnSpc>
                <a:spcPct val="170000"/>
              </a:lnSpc>
              <a:buFont typeface="Arial" pitchFamily="34" charset="0"/>
              <a:buAutoNum type="arabicPeriod"/>
            </a:pPr>
            <a:r>
              <a:rPr lang="en-US" sz="1800" b="1" dirty="0" smtClean="0">
                <a:latin typeface="Times New Roman" pitchFamily="18" charset="0"/>
                <a:cs typeface="Times New Roman" pitchFamily="18" charset="0"/>
              </a:rPr>
              <a:t>Clean water and sanitation:- </a:t>
            </a:r>
            <a:r>
              <a:rPr lang="en-US" sz="1800" dirty="0">
                <a:latin typeface="Times New Roman" pitchFamily="18" charset="0"/>
                <a:cs typeface="Times New Roman" pitchFamily="18" charset="0"/>
              </a:rPr>
              <a:t>Ensure availability and sustainable management of water and sanitation for all</a:t>
            </a:r>
          </a:p>
          <a:p>
            <a:pPr marL="514350" indent="-514350" algn="just">
              <a:lnSpc>
                <a:spcPct val="170000"/>
              </a:lnSpc>
              <a:buAutoNum type="arabicPeriod"/>
            </a:pPr>
            <a:endParaRPr lang="en-US" sz="1800" dirty="0">
              <a:latin typeface="Times New Roman" pitchFamily="18" charset="0"/>
              <a:cs typeface="Times New Roman" pitchFamily="18" charset="0"/>
            </a:endParaRPr>
          </a:p>
          <a:p>
            <a:pPr marL="0" indent="0" algn="just">
              <a:lnSpc>
                <a:spcPct val="17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2112993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03237"/>
            <a:ext cx="8534400" cy="4525963"/>
          </a:xfrm>
        </p:spPr>
        <p:txBody>
          <a:bodyPr>
            <a:noAutofit/>
          </a:bodyPr>
          <a:lstStyle/>
          <a:p>
            <a:pPr marL="514350" indent="-514350" algn="just">
              <a:lnSpc>
                <a:spcPct val="170000"/>
              </a:lnSpc>
              <a:buFont typeface="+mj-lt"/>
              <a:buAutoNum type="arabicPeriod" startAt="7"/>
            </a:pPr>
            <a:r>
              <a:rPr lang="en-US" sz="1800" b="1" dirty="0">
                <a:latin typeface="Times New Roman" pitchFamily="18" charset="0"/>
                <a:cs typeface="Times New Roman" pitchFamily="18" charset="0"/>
              </a:rPr>
              <a:t>Affordable and clean energy:- </a:t>
            </a:r>
            <a:r>
              <a:rPr lang="en-US" sz="1800" dirty="0">
                <a:latin typeface="Times New Roman" pitchFamily="18" charset="0"/>
                <a:cs typeface="Times New Roman" pitchFamily="18" charset="0"/>
              </a:rPr>
              <a:t>Ensure access to affordable, reliable, sustainable and modern energy for </a:t>
            </a:r>
            <a:r>
              <a:rPr lang="en-US" sz="1800" dirty="0" smtClean="0">
                <a:latin typeface="Times New Roman" pitchFamily="18" charset="0"/>
                <a:cs typeface="Times New Roman" pitchFamily="18" charset="0"/>
              </a:rPr>
              <a:t>all</a:t>
            </a:r>
            <a:endParaRPr lang="en-US" sz="1800" b="1" dirty="0" smtClean="0">
              <a:latin typeface="Times New Roman" pitchFamily="18" charset="0"/>
              <a:cs typeface="Times New Roman" pitchFamily="18" charset="0"/>
            </a:endParaRPr>
          </a:p>
          <a:p>
            <a:pPr marL="514350" indent="-514350" algn="just">
              <a:lnSpc>
                <a:spcPct val="170000"/>
              </a:lnSpc>
              <a:buFont typeface="+mj-lt"/>
              <a:buAutoNum type="arabicPeriod" startAt="7"/>
            </a:pPr>
            <a:r>
              <a:rPr lang="en-US" sz="1800" b="1" dirty="0" smtClean="0">
                <a:latin typeface="Times New Roman" pitchFamily="18" charset="0"/>
                <a:cs typeface="Times New Roman" pitchFamily="18" charset="0"/>
              </a:rPr>
              <a:t>Decent work and economic growth:- </a:t>
            </a:r>
            <a:r>
              <a:rPr lang="en-US" sz="1800" dirty="0">
                <a:latin typeface="Times New Roman" pitchFamily="18" charset="0"/>
                <a:cs typeface="Times New Roman" pitchFamily="18" charset="0"/>
              </a:rPr>
              <a:t>Promote sustained, inclusive and sustainable economic growth, full and productive employment and decent work for </a:t>
            </a:r>
            <a:r>
              <a:rPr lang="en-US" sz="1800" dirty="0" smtClean="0">
                <a:latin typeface="Times New Roman" pitchFamily="18" charset="0"/>
                <a:cs typeface="Times New Roman" pitchFamily="18" charset="0"/>
              </a:rPr>
              <a:t>all</a:t>
            </a:r>
          </a:p>
          <a:p>
            <a:pPr marL="514350" indent="-514350" algn="just">
              <a:lnSpc>
                <a:spcPct val="170000"/>
              </a:lnSpc>
              <a:buFont typeface="+mj-lt"/>
              <a:buAutoNum type="arabicPeriod" startAt="7"/>
            </a:pPr>
            <a:r>
              <a:rPr lang="en-US" sz="1800" b="1" dirty="0" smtClean="0">
                <a:latin typeface="Times New Roman" pitchFamily="18" charset="0"/>
                <a:cs typeface="Times New Roman" pitchFamily="18" charset="0"/>
              </a:rPr>
              <a:t>Industry, Innovation and Infrastructure:- </a:t>
            </a:r>
            <a:r>
              <a:rPr lang="en-US" sz="1800" dirty="0">
                <a:latin typeface="Times New Roman" pitchFamily="18" charset="0"/>
                <a:cs typeface="Times New Roman" pitchFamily="18" charset="0"/>
              </a:rPr>
              <a:t>Build resilient infrastructure, promote inclusive and sustainable industrialization and foster </a:t>
            </a:r>
            <a:r>
              <a:rPr lang="en-US" sz="1800" dirty="0" smtClean="0">
                <a:latin typeface="Times New Roman" pitchFamily="18" charset="0"/>
                <a:cs typeface="Times New Roman" pitchFamily="18" charset="0"/>
              </a:rPr>
              <a:t>innovation</a:t>
            </a:r>
          </a:p>
          <a:p>
            <a:pPr marL="514350" indent="-514350" algn="just">
              <a:lnSpc>
                <a:spcPct val="170000"/>
              </a:lnSpc>
              <a:buFont typeface="+mj-lt"/>
              <a:buAutoNum type="arabicPeriod" startAt="7"/>
            </a:pPr>
            <a:r>
              <a:rPr lang="en-US" sz="1800" b="1" dirty="0" smtClean="0">
                <a:latin typeface="Times New Roman" pitchFamily="18" charset="0"/>
                <a:cs typeface="Times New Roman" pitchFamily="18" charset="0"/>
              </a:rPr>
              <a:t>Reduced Inequality:- </a:t>
            </a:r>
            <a:r>
              <a:rPr lang="en-US" sz="1800" dirty="0">
                <a:latin typeface="Times New Roman" pitchFamily="18" charset="0"/>
                <a:cs typeface="Times New Roman" pitchFamily="18" charset="0"/>
              </a:rPr>
              <a:t>Reduce inequality within and among </a:t>
            </a:r>
            <a:r>
              <a:rPr lang="en-US" sz="1800" dirty="0" smtClean="0">
                <a:latin typeface="Times New Roman" pitchFamily="18" charset="0"/>
                <a:cs typeface="Times New Roman" pitchFamily="18" charset="0"/>
              </a:rPr>
              <a:t>countries</a:t>
            </a:r>
          </a:p>
          <a:p>
            <a:pPr marL="514350" indent="-514350" algn="just">
              <a:lnSpc>
                <a:spcPct val="170000"/>
              </a:lnSpc>
              <a:buFont typeface="+mj-lt"/>
              <a:buAutoNum type="arabicPeriod" startAt="7"/>
            </a:pPr>
            <a:r>
              <a:rPr lang="en-US" sz="1800" b="1" dirty="0" smtClean="0">
                <a:latin typeface="Times New Roman" pitchFamily="18" charset="0"/>
                <a:cs typeface="Times New Roman" pitchFamily="18" charset="0"/>
              </a:rPr>
              <a:t>Sustainable cities and communities:- </a:t>
            </a:r>
            <a:r>
              <a:rPr lang="en-US" sz="1800" dirty="0">
                <a:latin typeface="Times New Roman" pitchFamily="18" charset="0"/>
                <a:cs typeface="Times New Roman" pitchFamily="18" charset="0"/>
              </a:rPr>
              <a:t>Make cities and human settlements inclusive, safe, resilient and </a:t>
            </a:r>
            <a:r>
              <a:rPr lang="en-US" sz="1800" dirty="0" smtClean="0">
                <a:latin typeface="Times New Roman" pitchFamily="18" charset="0"/>
                <a:cs typeface="Times New Roman" pitchFamily="18" charset="0"/>
              </a:rPr>
              <a:t>sustainable</a:t>
            </a:r>
          </a:p>
          <a:p>
            <a:pPr marL="514350" indent="-514350" algn="just">
              <a:lnSpc>
                <a:spcPct val="170000"/>
              </a:lnSpc>
              <a:buFont typeface="+mj-lt"/>
              <a:buAutoNum type="arabicPeriod" startAt="7"/>
            </a:pPr>
            <a:r>
              <a:rPr lang="en-US" sz="1800" b="1" dirty="0" smtClean="0">
                <a:latin typeface="Times New Roman" pitchFamily="18" charset="0"/>
                <a:cs typeface="Times New Roman" pitchFamily="18" charset="0"/>
              </a:rPr>
              <a:t>Responsible consumption and Production:- </a:t>
            </a:r>
            <a:r>
              <a:rPr lang="en-US" sz="1800" dirty="0">
                <a:latin typeface="Times New Roman" pitchFamily="18" charset="0"/>
                <a:cs typeface="Times New Roman" pitchFamily="18" charset="0"/>
              </a:rPr>
              <a:t>Ensure sustainable consumption and production patterns</a:t>
            </a:r>
          </a:p>
          <a:p>
            <a:pPr marL="0" indent="0" algn="just">
              <a:lnSpc>
                <a:spcPct val="17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38217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8610600" cy="4525963"/>
          </a:xfrm>
        </p:spPr>
        <p:txBody>
          <a:bodyPr>
            <a:noAutofit/>
          </a:bodyPr>
          <a:lstStyle/>
          <a:p>
            <a:pPr marL="514350" indent="-514350" algn="just">
              <a:lnSpc>
                <a:spcPct val="170000"/>
              </a:lnSpc>
              <a:buFont typeface="+mj-lt"/>
              <a:buAutoNum type="arabicPeriod" startAt="13"/>
            </a:pPr>
            <a:r>
              <a:rPr lang="en-US" sz="1800" b="1" dirty="0" smtClean="0">
                <a:latin typeface="Times New Roman" pitchFamily="18" charset="0"/>
                <a:cs typeface="Times New Roman" pitchFamily="18" charset="0"/>
              </a:rPr>
              <a:t>Climate action:- </a:t>
            </a:r>
            <a:r>
              <a:rPr lang="en-US" sz="1800" dirty="0">
                <a:latin typeface="Times New Roman" pitchFamily="18" charset="0"/>
                <a:cs typeface="Times New Roman" pitchFamily="18" charset="0"/>
              </a:rPr>
              <a:t>Take urgent action to combat climate change and its </a:t>
            </a:r>
            <a:r>
              <a:rPr lang="en-US" sz="1800" dirty="0" smtClean="0">
                <a:latin typeface="Times New Roman" pitchFamily="18" charset="0"/>
                <a:cs typeface="Times New Roman" pitchFamily="18" charset="0"/>
              </a:rPr>
              <a:t>impacts</a:t>
            </a:r>
          </a:p>
          <a:p>
            <a:pPr marL="514350" indent="-514350" algn="just">
              <a:lnSpc>
                <a:spcPct val="170000"/>
              </a:lnSpc>
              <a:buFont typeface="+mj-lt"/>
              <a:buAutoNum type="arabicPeriod" startAt="13"/>
            </a:pPr>
            <a:r>
              <a:rPr lang="en-US" sz="1800" b="1" dirty="0" smtClean="0">
                <a:latin typeface="Times New Roman" pitchFamily="18" charset="0"/>
                <a:cs typeface="Times New Roman" pitchFamily="18" charset="0"/>
              </a:rPr>
              <a:t>Life below water:- </a:t>
            </a:r>
            <a:r>
              <a:rPr lang="en-US" sz="1800" dirty="0">
                <a:latin typeface="Times New Roman" pitchFamily="18" charset="0"/>
                <a:cs typeface="Times New Roman" pitchFamily="18" charset="0"/>
              </a:rPr>
              <a:t>Conserve and sustainably use the oceans, seas and marine resources for sustainable </a:t>
            </a:r>
            <a:r>
              <a:rPr lang="en-US" sz="1800" dirty="0" smtClean="0">
                <a:latin typeface="Times New Roman" pitchFamily="18" charset="0"/>
                <a:cs typeface="Times New Roman" pitchFamily="18" charset="0"/>
              </a:rPr>
              <a:t>development</a:t>
            </a:r>
          </a:p>
          <a:p>
            <a:pPr marL="514350" indent="-514350" algn="just">
              <a:lnSpc>
                <a:spcPct val="170000"/>
              </a:lnSpc>
              <a:buFont typeface="+mj-lt"/>
              <a:buAutoNum type="arabicPeriod" startAt="13"/>
            </a:pPr>
            <a:r>
              <a:rPr lang="en-US" sz="1800" b="1" dirty="0" smtClean="0">
                <a:latin typeface="Times New Roman" pitchFamily="18" charset="0"/>
                <a:cs typeface="Times New Roman" pitchFamily="18" charset="0"/>
              </a:rPr>
              <a:t>Life on Land:- </a:t>
            </a:r>
            <a:r>
              <a:rPr lang="en-US" sz="1800" dirty="0">
                <a:latin typeface="Times New Roman" pitchFamily="18" charset="0"/>
                <a:cs typeface="Times New Roman" pitchFamily="18" charset="0"/>
              </a:rPr>
              <a:t>Protect, restore and promote sustainable use of terrestrial ecosystems, sustainably manage forests, combat desertification, and halt and reverse land degradation and halt biodiversity </a:t>
            </a:r>
            <a:r>
              <a:rPr lang="en-US" sz="1800" dirty="0" smtClean="0">
                <a:latin typeface="Times New Roman" pitchFamily="18" charset="0"/>
                <a:cs typeface="Times New Roman" pitchFamily="18" charset="0"/>
              </a:rPr>
              <a:t>loss</a:t>
            </a:r>
          </a:p>
          <a:p>
            <a:pPr marL="514350" indent="-514350" algn="just">
              <a:lnSpc>
                <a:spcPct val="170000"/>
              </a:lnSpc>
              <a:buFont typeface="+mj-lt"/>
              <a:buAutoNum type="arabicPeriod" startAt="13"/>
            </a:pPr>
            <a:r>
              <a:rPr lang="en-US" sz="1800" b="1" dirty="0" smtClean="0">
                <a:latin typeface="Times New Roman" pitchFamily="18" charset="0"/>
                <a:cs typeface="Times New Roman" pitchFamily="18" charset="0"/>
              </a:rPr>
              <a:t>Peace, Justice and strong Institution: </a:t>
            </a:r>
            <a:r>
              <a:rPr lang="en-US" sz="1800" dirty="0">
                <a:latin typeface="Times New Roman" pitchFamily="18" charset="0"/>
                <a:cs typeface="Times New Roman" pitchFamily="18" charset="0"/>
              </a:rPr>
              <a:t>Promote peaceful and inclusive societies for sustainable development, provide access to justice for all and build effective, accountable and inclusive institutions at all </a:t>
            </a:r>
            <a:r>
              <a:rPr lang="en-US" sz="1800" dirty="0" smtClean="0">
                <a:latin typeface="Times New Roman" pitchFamily="18" charset="0"/>
                <a:cs typeface="Times New Roman" pitchFamily="18" charset="0"/>
              </a:rPr>
              <a:t>levels</a:t>
            </a:r>
          </a:p>
          <a:p>
            <a:pPr marL="514350" indent="-514350" algn="just">
              <a:lnSpc>
                <a:spcPct val="170000"/>
              </a:lnSpc>
              <a:buFont typeface="+mj-lt"/>
              <a:buAutoNum type="arabicPeriod" startAt="13"/>
            </a:pPr>
            <a:r>
              <a:rPr lang="en-US" sz="1800" b="1" dirty="0" smtClean="0">
                <a:latin typeface="Times New Roman" pitchFamily="18" charset="0"/>
                <a:cs typeface="Times New Roman" pitchFamily="18" charset="0"/>
              </a:rPr>
              <a:t>Partnership for the Goal:- </a:t>
            </a:r>
            <a:r>
              <a:rPr lang="en-US" sz="1800" dirty="0">
                <a:latin typeface="Times New Roman" pitchFamily="18" charset="0"/>
                <a:cs typeface="Times New Roman" pitchFamily="18" charset="0"/>
              </a:rPr>
              <a:t>Strengthen the means of implementation and revitalize the Global Partnership for Sustainable Development</a:t>
            </a:r>
          </a:p>
          <a:p>
            <a:pPr marL="0" indent="0" algn="just">
              <a:lnSpc>
                <a:spcPct val="170000"/>
              </a:lnSpc>
              <a:buNone/>
            </a:pPr>
            <a:endParaRPr lang="en-US" sz="1800" dirty="0">
              <a:latin typeface="Times New Roman" pitchFamily="18" charset="0"/>
              <a:cs typeface="Times New Roman" pitchFamily="18" charset="0"/>
            </a:endParaRPr>
          </a:p>
          <a:p>
            <a:pPr marL="0" indent="0" algn="just">
              <a:lnSpc>
                <a:spcPct val="17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312199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Knowledge and Attitude Profile (WK)</a:t>
            </a:r>
          </a:p>
        </p:txBody>
      </p:sp>
      <p:sp>
        <p:nvSpPr>
          <p:cNvPr id="3" name="Content Placeholder 2"/>
          <p:cNvSpPr>
            <a:spLocks noGrp="1"/>
          </p:cNvSpPr>
          <p:nvPr>
            <p:ph idx="1"/>
          </p:nvPr>
        </p:nvSpPr>
        <p:spPr/>
        <p:txBody>
          <a:bodyPr>
            <a:normAutofit fontScale="55000" lnSpcReduction="20000"/>
          </a:bodyPr>
          <a:lstStyle/>
          <a:p>
            <a:pPr marL="0" indent="0" algn="just">
              <a:lnSpc>
                <a:spcPct val="170000"/>
              </a:lnSpc>
              <a:buNone/>
            </a:pPr>
            <a:r>
              <a:rPr lang="en-US" b="1" dirty="0">
                <a:latin typeface="Times New Roman" pitchFamily="18" charset="0"/>
                <a:cs typeface="Times New Roman" pitchFamily="18" charset="0"/>
              </a:rPr>
              <a:t>WK1: </a:t>
            </a:r>
            <a:r>
              <a:rPr lang="en-US" dirty="0">
                <a:latin typeface="Times New Roman" pitchFamily="18" charset="0"/>
                <a:cs typeface="Times New Roman" pitchFamily="18" charset="0"/>
              </a:rPr>
              <a:t>A systematic, theory-based understanding of the natural sciences applicable to the discipline and awareness of relevant social sciences. </a:t>
            </a:r>
            <a:endParaRPr lang="en-US" dirty="0" smtClean="0">
              <a:latin typeface="Times New Roman" pitchFamily="18" charset="0"/>
              <a:cs typeface="Times New Roman" pitchFamily="18" charset="0"/>
            </a:endParaRPr>
          </a:p>
          <a:p>
            <a:pPr marL="0" indent="0" algn="just">
              <a:lnSpc>
                <a:spcPct val="170000"/>
              </a:lnSpc>
              <a:buNone/>
            </a:pPr>
            <a:r>
              <a:rPr lang="en-US" b="1" dirty="0" smtClean="0">
                <a:latin typeface="Times New Roman" pitchFamily="18" charset="0"/>
                <a:cs typeface="Times New Roman" pitchFamily="18" charset="0"/>
              </a:rPr>
              <a:t>WK2</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Conceptually-based mathematics, numerical analysis, data analysis, statistics and formal aspects of computer and information science to support detailed analysis and </a:t>
            </a:r>
            <a:r>
              <a:rPr lang="en-US" dirty="0" err="1">
                <a:latin typeface="Times New Roman" pitchFamily="18" charset="0"/>
                <a:cs typeface="Times New Roman" pitchFamily="18" charset="0"/>
              </a:rPr>
              <a:t>modelling</a:t>
            </a:r>
            <a:r>
              <a:rPr lang="en-US" dirty="0">
                <a:latin typeface="Times New Roman" pitchFamily="18" charset="0"/>
                <a:cs typeface="Times New Roman" pitchFamily="18" charset="0"/>
              </a:rPr>
              <a:t> applicable to the discipline. </a:t>
            </a:r>
            <a:endParaRPr lang="en-US" dirty="0" smtClean="0">
              <a:latin typeface="Times New Roman" pitchFamily="18" charset="0"/>
              <a:cs typeface="Times New Roman" pitchFamily="18" charset="0"/>
            </a:endParaRPr>
          </a:p>
          <a:p>
            <a:pPr marL="0" indent="0" algn="just">
              <a:lnSpc>
                <a:spcPct val="170000"/>
              </a:lnSpc>
              <a:buNone/>
            </a:pPr>
            <a:r>
              <a:rPr lang="en-US" b="1" dirty="0" smtClean="0">
                <a:latin typeface="Times New Roman" pitchFamily="18" charset="0"/>
                <a:cs typeface="Times New Roman" pitchFamily="18" charset="0"/>
              </a:rPr>
              <a:t>WK3</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A systematic, theory-based formulation of engineering fundamentals required in the engineering discipline. </a:t>
            </a:r>
            <a:endParaRPr lang="en-US" dirty="0" smtClean="0">
              <a:latin typeface="Times New Roman" pitchFamily="18" charset="0"/>
              <a:cs typeface="Times New Roman" pitchFamily="18" charset="0"/>
            </a:endParaRPr>
          </a:p>
          <a:p>
            <a:pPr marL="0" indent="0" algn="just">
              <a:lnSpc>
                <a:spcPct val="170000"/>
              </a:lnSpc>
              <a:buNone/>
            </a:pPr>
            <a:r>
              <a:rPr lang="en-US" b="1" dirty="0" smtClean="0">
                <a:latin typeface="Times New Roman" pitchFamily="18" charset="0"/>
                <a:cs typeface="Times New Roman" pitchFamily="18" charset="0"/>
              </a:rPr>
              <a:t>WK4</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Engineering specialist knowledge that provides theoretical frameworks and bodies of knowledge for the accepted practice areas in the engineering discipline; much is at the forefront of the discipline.</a:t>
            </a:r>
          </a:p>
        </p:txBody>
      </p:sp>
    </p:spTree>
    <p:extLst>
      <p:ext uri="{BB962C8B-B14F-4D97-AF65-F5344CB8AC3E}">
        <p14:creationId xmlns:p14="http://schemas.microsoft.com/office/powerpoint/2010/main" val="1004315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686800" cy="4525963"/>
          </a:xfrm>
        </p:spPr>
        <p:txBody>
          <a:bodyPr>
            <a:noAutofit/>
          </a:bodyPr>
          <a:lstStyle/>
          <a:p>
            <a:pPr marL="0" indent="0" algn="just">
              <a:lnSpc>
                <a:spcPct val="170000"/>
              </a:lnSpc>
              <a:buNone/>
            </a:pPr>
            <a:r>
              <a:rPr lang="en-US" sz="1600" b="1" dirty="0">
                <a:latin typeface="Times New Roman" pitchFamily="18" charset="0"/>
                <a:cs typeface="Times New Roman" pitchFamily="18" charset="0"/>
              </a:rPr>
              <a:t>WK5: </a:t>
            </a:r>
            <a:r>
              <a:rPr lang="en-US" sz="1600" dirty="0">
                <a:latin typeface="Times New Roman" pitchFamily="18" charset="0"/>
                <a:cs typeface="Times New Roman" pitchFamily="18" charset="0"/>
              </a:rPr>
              <a:t>Knowledge, including efficient resource use, environmental impacts, whole-life cost, re use of resources, net zero carbon, and similar concepts, that supports engineering design and operations in a practice area.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WK6</a:t>
            </a: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Knowledge of engineering practice (technology) in the practice areas in the engineering discipline.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WK7</a:t>
            </a: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Knowledge of the role of engineering in society and identified issues in engineering practice in the discipline, such as the professional responsibility of an engineer to public safety and sustainable development.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WK8</a:t>
            </a: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Engagement with selected knowledge in the current research literature of the discipline, awareness of the power of critical thinking and creative approaches to evaluate emerging issues.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WK9</a:t>
            </a:r>
            <a:r>
              <a:rPr lang="en-US" sz="1600" b="1" dirty="0">
                <a:latin typeface="Times New Roman" pitchFamily="18" charset="0"/>
                <a:cs typeface="Times New Roman" pitchFamily="18" charset="0"/>
              </a:rPr>
              <a:t>: </a:t>
            </a:r>
            <a:r>
              <a:rPr lang="en-US" sz="1600" dirty="0">
                <a:latin typeface="Times New Roman" pitchFamily="18" charset="0"/>
                <a:cs typeface="Times New Roman" pitchFamily="18" charset="0"/>
              </a:rPr>
              <a:t>Ethics, inclusive behavior and conduct. Knowledge of professional ethics, responsibilities, and norms of engineering practice. Awareness of the need for diversity by reason of ethnicity, gender, age, physical ability etc. with mutual understanding and respect, and of inclusive attitudes.</a:t>
            </a:r>
          </a:p>
        </p:txBody>
      </p:sp>
    </p:spTree>
    <p:extLst>
      <p:ext uri="{BB962C8B-B14F-4D97-AF65-F5344CB8AC3E}">
        <p14:creationId xmlns:p14="http://schemas.microsoft.com/office/powerpoint/2010/main" val="247535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Outcomes (POs)</a:t>
            </a:r>
          </a:p>
        </p:txBody>
      </p:sp>
      <p:sp>
        <p:nvSpPr>
          <p:cNvPr id="3" name="Content Placeholder 2"/>
          <p:cNvSpPr>
            <a:spLocks noGrp="1"/>
          </p:cNvSpPr>
          <p:nvPr>
            <p:ph idx="1"/>
          </p:nvPr>
        </p:nvSpPr>
        <p:spPr>
          <a:xfrm>
            <a:off x="228600" y="1295400"/>
            <a:ext cx="8686800" cy="4525963"/>
          </a:xfrm>
        </p:spPr>
        <p:txBody>
          <a:bodyPr>
            <a:noAutofit/>
          </a:bodyPr>
          <a:lstStyle/>
          <a:p>
            <a:pPr marL="0" indent="0" algn="just">
              <a:lnSpc>
                <a:spcPct val="170000"/>
              </a:lnSpc>
              <a:buNone/>
            </a:pPr>
            <a:r>
              <a:rPr lang="en-US" sz="1600" b="1" dirty="0" smtClean="0">
                <a:latin typeface="Times New Roman" pitchFamily="18" charset="0"/>
                <a:cs typeface="Times New Roman" pitchFamily="18" charset="0"/>
              </a:rPr>
              <a:t>PO1</a:t>
            </a:r>
            <a:r>
              <a:rPr lang="en-US" sz="1600" b="1" dirty="0">
                <a:latin typeface="Times New Roman" pitchFamily="18" charset="0"/>
                <a:cs typeface="Times New Roman" pitchFamily="18" charset="0"/>
              </a:rPr>
              <a:t>: Engineering Knowledge:</a:t>
            </a:r>
            <a:r>
              <a:rPr lang="en-US" sz="1600" dirty="0">
                <a:latin typeface="Times New Roman" pitchFamily="18" charset="0"/>
                <a:cs typeface="Times New Roman" pitchFamily="18" charset="0"/>
              </a:rPr>
              <a:t> Apply knowledge of mathematics, natural science, computing, engineering fundamentals and an engineering specialization as specified in WK1 to WK4 respectively to develop to the solution of complex engineering problems.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PO2</a:t>
            </a:r>
            <a:r>
              <a:rPr lang="en-US" sz="1600" b="1" dirty="0">
                <a:latin typeface="Times New Roman" pitchFamily="18" charset="0"/>
                <a:cs typeface="Times New Roman" pitchFamily="18" charset="0"/>
              </a:rPr>
              <a:t>: Problem Analysis: </a:t>
            </a:r>
            <a:r>
              <a:rPr lang="en-US" sz="1600" dirty="0">
                <a:latin typeface="Times New Roman" pitchFamily="18" charset="0"/>
                <a:cs typeface="Times New Roman" pitchFamily="18" charset="0"/>
              </a:rPr>
              <a:t>Identify, formulate, review research literature and analyze complex engineering problems reaching substantiated conclusions with consideration for sustainable development. (WK1 to WK4)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PO3</a:t>
            </a:r>
            <a:r>
              <a:rPr lang="en-US" sz="1600" b="1" dirty="0">
                <a:latin typeface="Times New Roman" pitchFamily="18" charset="0"/>
                <a:cs typeface="Times New Roman" pitchFamily="18" charset="0"/>
              </a:rPr>
              <a:t>: Design/Development of Solutions: </a:t>
            </a:r>
            <a:r>
              <a:rPr lang="en-US" sz="1600" dirty="0">
                <a:latin typeface="Times New Roman" pitchFamily="18" charset="0"/>
                <a:cs typeface="Times New Roman" pitchFamily="18" charset="0"/>
              </a:rPr>
              <a:t>Design creative solutions for complex engineering problems and design/develop systems/components/processes to meet identified needs with consideration for the public health and safety, whole-life cost, net zero carbon, culture, society and environment as required. (WK5)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PO4</a:t>
            </a:r>
            <a:r>
              <a:rPr lang="en-US" sz="1600" b="1" dirty="0">
                <a:latin typeface="Times New Roman" pitchFamily="18" charset="0"/>
                <a:cs typeface="Times New Roman" pitchFamily="18" charset="0"/>
              </a:rPr>
              <a:t>: Conduct Investigations of Complex Problems: </a:t>
            </a:r>
            <a:r>
              <a:rPr lang="en-US" sz="1600" dirty="0">
                <a:latin typeface="Times New Roman" pitchFamily="18" charset="0"/>
                <a:cs typeface="Times New Roman" pitchFamily="18" charset="0"/>
              </a:rPr>
              <a:t>Conduct investigations of complex engineering problems using research-based knowledge including design of experiments, </a:t>
            </a:r>
            <a:r>
              <a:rPr lang="en-US" sz="1600" dirty="0" err="1">
                <a:latin typeface="Times New Roman" pitchFamily="18" charset="0"/>
                <a:cs typeface="Times New Roman" pitchFamily="18" charset="0"/>
              </a:rPr>
              <a:t>modelling</a:t>
            </a:r>
            <a:r>
              <a:rPr lang="en-US" sz="1600" dirty="0">
                <a:latin typeface="Times New Roman" pitchFamily="18" charset="0"/>
                <a:cs typeface="Times New Roman" pitchFamily="18" charset="0"/>
              </a:rPr>
              <a:t>, analysis &amp; interpretation of data to provide valid conclusions. (WK8).</a:t>
            </a:r>
          </a:p>
        </p:txBody>
      </p:sp>
    </p:spTree>
    <p:extLst>
      <p:ext uri="{BB962C8B-B14F-4D97-AF65-F5344CB8AC3E}">
        <p14:creationId xmlns:p14="http://schemas.microsoft.com/office/powerpoint/2010/main" val="4212884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600200"/>
            <a:ext cx="8382000" cy="4525963"/>
          </a:xfrm>
        </p:spPr>
        <p:txBody>
          <a:bodyPr>
            <a:normAutofit/>
          </a:bodyPr>
          <a:lstStyle/>
          <a:p>
            <a:pPr marL="0" indent="0" algn="just">
              <a:lnSpc>
                <a:spcPct val="170000"/>
              </a:lnSpc>
              <a:buNone/>
            </a:pPr>
            <a:r>
              <a:rPr lang="en-US" sz="1600" b="1" dirty="0">
                <a:latin typeface="Times New Roman" pitchFamily="18" charset="0"/>
                <a:cs typeface="Times New Roman" pitchFamily="18" charset="0"/>
              </a:rPr>
              <a:t>PO5: Engineering Tool Usage: </a:t>
            </a:r>
            <a:r>
              <a:rPr lang="en-US" sz="1600" dirty="0">
                <a:latin typeface="Times New Roman" pitchFamily="18" charset="0"/>
                <a:cs typeface="Times New Roman" pitchFamily="18" charset="0"/>
              </a:rPr>
              <a:t>Create, select and apply appropriate techniques, resources and modern engineering &amp; IT tools, including prediction and </a:t>
            </a:r>
            <a:r>
              <a:rPr lang="en-US" sz="1600" dirty="0" err="1">
                <a:latin typeface="Times New Roman" pitchFamily="18" charset="0"/>
                <a:cs typeface="Times New Roman" pitchFamily="18" charset="0"/>
              </a:rPr>
              <a:t>modelling</a:t>
            </a:r>
            <a:r>
              <a:rPr lang="en-US" sz="1600" dirty="0">
                <a:latin typeface="Times New Roman" pitchFamily="18" charset="0"/>
                <a:cs typeface="Times New Roman" pitchFamily="18" charset="0"/>
              </a:rPr>
              <a:t> recognizing their limitations to solve complex engineering problems. (WK2 and WK6)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PO6</a:t>
            </a:r>
            <a:r>
              <a:rPr lang="en-US" sz="1600" b="1" dirty="0">
                <a:latin typeface="Times New Roman" pitchFamily="18" charset="0"/>
                <a:cs typeface="Times New Roman" pitchFamily="18" charset="0"/>
              </a:rPr>
              <a:t>: The Engineer and The World: </a:t>
            </a:r>
            <a:r>
              <a:rPr lang="en-US" sz="1600" dirty="0">
                <a:latin typeface="Times New Roman" pitchFamily="18" charset="0"/>
                <a:cs typeface="Times New Roman" pitchFamily="18" charset="0"/>
              </a:rPr>
              <a:t>Analyze and evaluate societal and environmental aspects while solving complex engineering problems for its impact on sustainability with reference to economy, health, safety, legal framework, culture and environment. (WK1, WK5, and WK7).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PO7</a:t>
            </a:r>
            <a:r>
              <a:rPr lang="en-US" sz="1600" b="1" dirty="0">
                <a:latin typeface="Times New Roman" pitchFamily="18" charset="0"/>
                <a:cs typeface="Times New Roman" pitchFamily="18" charset="0"/>
              </a:rPr>
              <a:t>: Ethics: </a:t>
            </a:r>
            <a:r>
              <a:rPr lang="en-US" sz="1600" dirty="0">
                <a:latin typeface="Times New Roman" pitchFamily="18" charset="0"/>
                <a:cs typeface="Times New Roman" pitchFamily="18" charset="0"/>
              </a:rPr>
              <a:t>Apply ethical principles and commit to professional ethics, human values, diversity and inclusion; adhere to national &amp; international laws. (WK9)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PO8</a:t>
            </a:r>
            <a:r>
              <a:rPr lang="en-US" sz="1600" b="1" dirty="0">
                <a:latin typeface="Times New Roman" pitchFamily="18" charset="0"/>
                <a:cs typeface="Times New Roman" pitchFamily="18" charset="0"/>
              </a:rPr>
              <a:t>: Individual and Collaborative Team work: </a:t>
            </a:r>
            <a:r>
              <a:rPr lang="en-US" sz="1600" dirty="0">
                <a:latin typeface="Times New Roman" pitchFamily="18" charset="0"/>
                <a:cs typeface="Times New Roman" pitchFamily="18" charset="0"/>
              </a:rPr>
              <a:t>Function effectively as an individual, and as a member or leader in diverse/multi-disciplinary teams.</a:t>
            </a:r>
          </a:p>
        </p:txBody>
      </p:sp>
    </p:spTree>
    <p:extLst>
      <p:ext uri="{BB962C8B-B14F-4D97-AF65-F5344CB8AC3E}">
        <p14:creationId xmlns:p14="http://schemas.microsoft.com/office/powerpoint/2010/main" val="2785746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04800" y="1600200"/>
            <a:ext cx="8534400" cy="4525963"/>
          </a:xfrm>
        </p:spPr>
        <p:txBody>
          <a:bodyPr>
            <a:normAutofit/>
          </a:bodyPr>
          <a:lstStyle/>
          <a:p>
            <a:pPr marL="0" indent="0" algn="just">
              <a:lnSpc>
                <a:spcPct val="170000"/>
              </a:lnSpc>
              <a:buNone/>
            </a:pPr>
            <a:r>
              <a:rPr lang="en-US" sz="1600" b="1" dirty="0">
                <a:latin typeface="Times New Roman" pitchFamily="18" charset="0"/>
                <a:cs typeface="Times New Roman" pitchFamily="18" charset="0"/>
              </a:rPr>
              <a:t>PO9: Communication: </a:t>
            </a:r>
            <a:r>
              <a:rPr lang="en-US" sz="1600" dirty="0">
                <a:latin typeface="Times New Roman" pitchFamily="18" charset="0"/>
                <a:cs typeface="Times New Roman" pitchFamily="18" charset="0"/>
              </a:rPr>
              <a:t>Communicate effectively and inclusively within the engineering community and society at large, such as being able to comprehend and write effective reports and design documentation, make effective presentations considering cultural, language, and learning differences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PO10</a:t>
            </a:r>
            <a:r>
              <a:rPr lang="en-US" sz="1600" b="1" dirty="0">
                <a:latin typeface="Times New Roman" pitchFamily="18" charset="0"/>
                <a:cs typeface="Times New Roman" pitchFamily="18" charset="0"/>
              </a:rPr>
              <a:t>: Project Management and Finance:</a:t>
            </a:r>
            <a:r>
              <a:rPr lang="en-US" sz="1600" dirty="0">
                <a:latin typeface="Times New Roman" pitchFamily="18" charset="0"/>
                <a:cs typeface="Times New Roman" pitchFamily="18" charset="0"/>
              </a:rPr>
              <a:t> Apply knowledge and understanding of engineering management principles and economic decision-making and apply these to one’s own work, as a member and leader in a team, and to manage projects and in multidisciplinary environments. </a:t>
            </a:r>
            <a:endParaRPr lang="en-US" sz="1600" dirty="0" smtClean="0">
              <a:latin typeface="Times New Roman" pitchFamily="18" charset="0"/>
              <a:cs typeface="Times New Roman" pitchFamily="18" charset="0"/>
            </a:endParaRPr>
          </a:p>
          <a:p>
            <a:pPr marL="0" indent="0" algn="just">
              <a:lnSpc>
                <a:spcPct val="170000"/>
              </a:lnSpc>
              <a:buNone/>
            </a:pPr>
            <a:r>
              <a:rPr lang="en-US" sz="1600" b="1" dirty="0" smtClean="0">
                <a:latin typeface="Times New Roman" pitchFamily="18" charset="0"/>
                <a:cs typeface="Times New Roman" pitchFamily="18" charset="0"/>
              </a:rPr>
              <a:t>PO11</a:t>
            </a:r>
            <a:r>
              <a:rPr lang="en-US" sz="1600" b="1" dirty="0">
                <a:latin typeface="Times New Roman" pitchFamily="18" charset="0"/>
                <a:cs typeface="Times New Roman" pitchFamily="18" charset="0"/>
              </a:rPr>
              <a:t>: Life-Long Learning: </a:t>
            </a:r>
            <a:r>
              <a:rPr lang="en-US" sz="1600" dirty="0">
                <a:latin typeface="Times New Roman" pitchFamily="18" charset="0"/>
                <a:cs typeface="Times New Roman" pitchFamily="18" charset="0"/>
              </a:rPr>
              <a:t>Recognize the need for, and have the preparation and ability for i) independent and life-long learning ii) adaptability to new and emerging technologies and iii) critical thinking in the broadest context of technological change. (WK8)</a:t>
            </a:r>
          </a:p>
        </p:txBody>
      </p:sp>
    </p:spTree>
    <p:extLst>
      <p:ext uri="{BB962C8B-B14F-4D97-AF65-F5344CB8AC3E}">
        <p14:creationId xmlns:p14="http://schemas.microsoft.com/office/powerpoint/2010/main" val="11616061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1023</Words>
  <Application>Microsoft Office PowerPoint</Application>
  <PresentationFormat>On-screen Show (4:3)</PresentationFormat>
  <Paragraphs>42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SDG’s and WK’s</vt:lpstr>
      <vt:lpstr>Sustainable Development Goals (SDG)</vt:lpstr>
      <vt:lpstr>SDG’s</vt:lpstr>
      <vt:lpstr>PowerPoint Presentation</vt:lpstr>
      <vt:lpstr>PowerPoint Presentation</vt:lpstr>
      <vt:lpstr>Knowledge and Attitude Profile (WK)</vt:lpstr>
      <vt:lpstr>PowerPoint Presentation</vt:lpstr>
      <vt:lpstr>Program Outcomes (POs)</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SDG and WK</dc:title>
  <dc:creator>Dyp</dc:creator>
  <cp:lastModifiedBy>Dyp</cp:lastModifiedBy>
  <cp:revision>13</cp:revision>
  <dcterms:created xsi:type="dcterms:W3CDTF">2006-08-16T00:00:00Z</dcterms:created>
  <dcterms:modified xsi:type="dcterms:W3CDTF">2026-03-04T04:07:27Z</dcterms:modified>
</cp:coreProperties>
</file>